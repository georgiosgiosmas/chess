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 bwMode="auto">
            <a:prstGeom prst="rect">
              <a:avLst/>
            </a:prstGeom>
            <a:solidFill>
              <a:srgbClr val="E8A838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Sheet1!$A$2:$A$10</c:f>
              <c:multiLvlStrCache>
                <c:ptCount val="9"/>
                <c:lvl>
                  <c:pt idx="0">
                    <c:v>Openings</c:v>
                  </c:pt>
                  <c:pt idx="1">
                    <c:v>Movement</c:v>
                  </c:pt>
                  <c:pt idx="2">
                    <c:v>Check</c:v>
                  </c:pt>
                  <c:pt idx="3">
                    <c:v>Checkmate</c:v>
                  </c:pt>
                  <c:pt idx="4">
                    <c:v>Stalemate</c:v>
                  </c:pt>
                  <c:pt idx="5">
                    <c:v>Castling</c:v>
                  </c:pt>
                  <c:pt idx="6">
                    <c:v>En Passant</c:v>
                  </c:pt>
                  <c:pt idx="7">
                    <c:v>Pins</c:v>
                  </c:pt>
                  <c:pt idx="8">
                    <c:v>Tactics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</c:v>
                </c:pt>
                <c:pt idx="1">
                  <c:v>22</c:v>
                </c:pt>
                <c:pt idx="2">
                  <c:v>14</c:v>
                </c:pt>
                <c:pt idx="3">
                  <c:v>22</c:v>
                </c:pt>
                <c:pt idx="4">
                  <c:v>9</c:v>
                </c:pt>
                <c:pt idx="5">
                  <c:v>23</c:v>
                </c:pt>
                <c:pt idx="6">
                  <c:v>13</c:v>
                </c:pt>
                <c:pt idx="7">
                  <c:v>12</c:v>
                </c:pt>
                <c:pt idx="8">
                  <c:v>20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100" b="0" i="0" u="none" strike="noStrike">
                  <a:solidFill>
                    <a:srgbClr val="1A1A2E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 rot="0">
      <a:off x="3200400" y="1097280"/>
      <a:ext cx="5669280" cy="320040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?><Relationships xmlns="http://schemas.openxmlformats.org/package/2006/relationships"/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7243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212797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13539664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8560879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9269931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539075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365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4079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5799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897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584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7823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70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57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893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678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3205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4477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890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6016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5010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926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865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97974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401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7441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2526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480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019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3672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574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7849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1601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81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4933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675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chart" Target="../charts/char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863065" name="Shape 0"/>
          <p:cNvSpPr/>
          <p:nvPr/>
        </p:nvSpPr>
        <p:spPr bwMode="auto">
          <a:xfrm>
            <a:off x="274320" y="274320"/>
            <a:ext cx="457200" cy="457200"/>
          </a:xfrm>
          <a:prstGeom prst="rect">
            <a:avLst/>
          </a:prstGeom>
          <a:solidFill>
            <a:srgbClr val="B58863">
              <a:alpha val="70000"/>
            </a:srgbClr>
          </a:solidFill>
          <a:ln/>
        </p:spPr>
      </p:sp>
      <p:sp>
        <p:nvSpPr>
          <p:cNvPr id="820766594" name="Shape 1"/>
          <p:cNvSpPr/>
          <p:nvPr/>
        </p:nvSpPr>
        <p:spPr bwMode="auto">
          <a:xfrm>
            <a:off x="731520" y="274320"/>
            <a:ext cx="457200" cy="457200"/>
          </a:xfrm>
          <a:prstGeom prst="rect">
            <a:avLst/>
          </a:prstGeom>
          <a:solidFill>
            <a:srgbClr val="F0D9B5">
              <a:alpha val="70000"/>
            </a:srgbClr>
          </a:solidFill>
          <a:ln/>
        </p:spPr>
      </p:sp>
      <p:sp>
        <p:nvSpPr>
          <p:cNvPr id="280141765" name="Shape 2"/>
          <p:cNvSpPr/>
          <p:nvPr/>
        </p:nvSpPr>
        <p:spPr bwMode="auto">
          <a:xfrm>
            <a:off x="274320" y="731520"/>
            <a:ext cx="457200" cy="457200"/>
          </a:xfrm>
          <a:prstGeom prst="rect">
            <a:avLst/>
          </a:prstGeom>
          <a:solidFill>
            <a:srgbClr val="F0D9B5">
              <a:alpha val="70000"/>
            </a:srgbClr>
          </a:solidFill>
          <a:ln/>
        </p:spPr>
      </p:sp>
      <p:sp>
        <p:nvSpPr>
          <p:cNvPr id="2134467771" name="Shape 3"/>
          <p:cNvSpPr/>
          <p:nvPr/>
        </p:nvSpPr>
        <p:spPr bwMode="auto">
          <a:xfrm>
            <a:off x="731520" y="731520"/>
            <a:ext cx="457200" cy="457200"/>
          </a:xfrm>
          <a:prstGeom prst="rect">
            <a:avLst/>
          </a:prstGeom>
          <a:solidFill>
            <a:srgbClr val="B58863">
              <a:alpha val="70000"/>
            </a:srgbClr>
          </a:solidFill>
          <a:ln/>
        </p:spPr>
      </p:sp>
      <p:pic>
        <p:nvPicPr>
          <p:cNvPr id="60378540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1650266234" name="Text 4"/>
          <p:cNvSpPr/>
          <p:nvPr/>
        </p:nvSpPr>
        <p:spPr bwMode="auto"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Python Chess Application</a:t>
            </a:r>
            <a:endParaRPr lang="en-US" sz="4000"/>
          </a:p>
        </p:txBody>
      </p:sp>
      <p:sp>
        <p:nvSpPr>
          <p:cNvPr id="1826431509" name="Text 5"/>
          <p:cNvSpPr/>
          <p:nvPr/>
        </p:nvSpPr>
        <p:spPr bwMode="auto"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A Complete Chess Engine &amp; GUI Built from Scratch</a:t>
            </a:r>
            <a:endParaRPr lang="en-US" sz="1800"/>
          </a:p>
        </p:txBody>
      </p:sp>
      <p:sp>
        <p:nvSpPr>
          <p:cNvPr id="203777806" name="Shape 6"/>
          <p:cNvSpPr/>
          <p:nvPr/>
        </p:nvSpPr>
        <p:spPr bwMode="auto">
          <a:xfrm>
            <a:off x="3200400" y="3566160"/>
            <a:ext cx="274320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92794656" name="Text 7"/>
          <p:cNvSpPr/>
          <p:nvPr/>
        </p:nvSpPr>
        <p:spPr bwMode="auto"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Georgios Giosmas</a:t>
            </a:r>
            <a:endParaRPr lang="en-US" sz="1600"/>
          </a:p>
        </p:txBody>
      </p:sp>
      <p:sp>
        <p:nvSpPr>
          <p:cNvPr id="1901649545" name="Text 8"/>
          <p:cNvSpPr/>
          <p:nvPr/>
        </p:nvSpPr>
        <p:spPr bwMode="auto"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Electrical &amp; Computer Engineering Graduate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5F0E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465859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Project Overview</a:t>
            </a:r>
            <a:endParaRPr lang="en-US" sz="3600"/>
          </a:p>
        </p:txBody>
      </p:sp>
      <p:sp>
        <p:nvSpPr>
          <p:cNvPr id="170643907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59540880" name="Text 2"/>
          <p:cNvSpPr/>
          <p:nvPr/>
        </p:nvSpPr>
        <p:spPr bwMode="auto">
          <a:xfrm>
            <a:off x="548640" y="12801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C2C2C"/>
                </a:solidFill>
                <a:latin typeface="Calibri"/>
                <a:ea typeface="Calibri"/>
                <a:cs typeface="Calibri"/>
              </a:rPr>
              <a:t>A fully functional chess application built entirely in Python, featuring a rules-compliant engine and a graphical interface built with tkinter.</a:t>
            </a:r>
            <a:endParaRPr lang="en-US" sz="1400"/>
          </a:p>
        </p:txBody>
      </p:sp>
      <p:sp>
        <p:nvSpPr>
          <p:cNvPr id="455109384" name="Text 3"/>
          <p:cNvSpPr/>
          <p:nvPr/>
        </p:nvSpPr>
        <p:spPr bwMode="auto">
          <a:xfrm>
            <a:off x="548640" y="22860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C2C2C"/>
                </a:solidFill>
                <a:latin typeface="Calibri"/>
                <a:ea typeface="Calibri"/>
                <a:cs typeface="Calibri"/>
              </a:rPr>
              <a:t>The project demonstrates strong object-oriented design, algorithmic problem-solving, GUI development, and test automation with pytest — all implemented independently as a portfolio piece.</a:t>
            </a:r>
            <a:endParaRPr lang="en-US" sz="1400"/>
          </a:p>
        </p:txBody>
      </p:sp>
      <p:sp>
        <p:nvSpPr>
          <p:cNvPr id="763725752" name="Shape 4"/>
          <p:cNvSpPr/>
          <p:nvPr/>
        </p:nvSpPr>
        <p:spPr bwMode="auto">
          <a:xfrm>
            <a:off x="5486400" y="1188720"/>
            <a:ext cx="320040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507991332" name="Text 5"/>
          <p:cNvSpPr/>
          <p:nvPr/>
        </p:nvSpPr>
        <p:spPr bwMode="auto">
          <a:xfrm>
            <a:off x="5669280" y="1234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E8A838"/>
                </a:solidFill>
                <a:latin typeface="Georgia"/>
                <a:ea typeface="Georgia"/>
                <a:cs typeface="Georgia"/>
              </a:rPr>
              <a:t>4</a:t>
            </a:r>
            <a:endParaRPr lang="en-US" sz="3200"/>
          </a:p>
        </p:txBody>
      </p:sp>
      <p:sp>
        <p:nvSpPr>
          <p:cNvPr id="360858353" name="Text 6"/>
          <p:cNvSpPr/>
          <p:nvPr/>
        </p:nvSpPr>
        <p:spPr bwMode="auto">
          <a:xfrm>
            <a:off x="6858000" y="1234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Core Files</a:t>
            </a:r>
            <a:endParaRPr lang="en-US" sz="1500"/>
          </a:p>
        </p:txBody>
      </p:sp>
      <p:sp>
        <p:nvSpPr>
          <p:cNvPr id="673748552" name="Shape 7"/>
          <p:cNvSpPr/>
          <p:nvPr/>
        </p:nvSpPr>
        <p:spPr bwMode="auto">
          <a:xfrm>
            <a:off x="5486400" y="2103120"/>
            <a:ext cx="320040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337751070" name="Text 8"/>
          <p:cNvSpPr/>
          <p:nvPr/>
        </p:nvSpPr>
        <p:spPr bwMode="auto">
          <a:xfrm>
            <a:off x="5669280" y="2148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E8A838"/>
                </a:solidFill>
                <a:latin typeface="Georgia"/>
                <a:ea typeface="Georgia"/>
                <a:cs typeface="Georgia"/>
              </a:rPr>
              <a:t>150</a:t>
            </a:r>
            <a:endParaRPr lang="en-US" sz="3200"/>
          </a:p>
        </p:txBody>
      </p:sp>
      <p:sp>
        <p:nvSpPr>
          <p:cNvPr id="1931907122" name="Text 9"/>
          <p:cNvSpPr/>
          <p:nvPr/>
        </p:nvSpPr>
        <p:spPr bwMode="auto">
          <a:xfrm>
            <a:off x="685800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Pytest Tests</a:t>
            </a:r>
            <a:endParaRPr lang="en-US" sz="1500"/>
          </a:p>
        </p:txBody>
      </p:sp>
      <p:sp>
        <p:nvSpPr>
          <p:cNvPr id="511182289" name="Shape 10"/>
          <p:cNvSpPr/>
          <p:nvPr/>
        </p:nvSpPr>
        <p:spPr bwMode="auto">
          <a:xfrm>
            <a:off x="5486400" y="3017519"/>
            <a:ext cx="3200400" cy="73152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397432730" name="Text 11"/>
          <p:cNvSpPr/>
          <p:nvPr/>
        </p:nvSpPr>
        <p:spPr bwMode="auto">
          <a:xfrm>
            <a:off x="548640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E8A838"/>
                </a:solidFill>
                <a:latin typeface="Georgia"/>
                <a:ea typeface="Georgia"/>
                <a:cs typeface="Georgia"/>
              </a:rPr>
              <a:t>1500+</a:t>
            </a:r>
            <a:endParaRPr lang="en-US" sz="2600"/>
          </a:p>
        </p:txBody>
      </p:sp>
      <p:sp>
        <p:nvSpPr>
          <p:cNvPr id="1142454453" name="Text 12"/>
          <p:cNvSpPr/>
          <p:nvPr/>
        </p:nvSpPr>
        <p:spPr bwMode="auto">
          <a:xfrm>
            <a:off x="685800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Lines of Code</a:t>
            </a:r>
            <a:endParaRPr lang="en-US" sz="1500"/>
          </a:p>
        </p:txBody>
      </p:sp>
      <p:sp>
        <p:nvSpPr>
          <p:cNvPr id="1449931377" name="Text 13"/>
          <p:cNvSpPr/>
          <p:nvPr/>
        </p:nvSpPr>
        <p:spPr bwMode="auto">
          <a:xfrm>
            <a:off x="54864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C4882A"/>
                </a:solidFill>
                <a:latin typeface="Calibri"/>
                <a:ea typeface="Calibri"/>
                <a:cs typeface="Calibri"/>
              </a:rPr>
              <a:t>Tech Stack</a:t>
            </a:r>
            <a:endParaRPr lang="en-US" sz="1300"/>
          </a:p>
        </p:txBody>
      </p:sp>
      <p:sp>
        <p:nvSpPr>
          <p:cNvPr id="2091128844" name="Shape 14"/>
          <p:cNvSpPr/>
          <p:nvPr/>
        </p:nvSpPr>
        <p:spPr bwMode="auto">
          <a:xfrm>
            <a:off x="548640" y="3840480"/>
            <a:ext cx="10515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85570451" name="Text 15"/>
          <p:cNvSpPr/>
          <p:nvPr/>
        </p:nvSpPr>
        <p:spPr bwMode="auto">
          <a:xfrm>
            <a:off x="54864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Python 3</a:t>
            </a:r>
            <a:endParaRPr lang="en-US" sz="1000"/>
          </a:p>
        </p:txBody>
      </p:sp>
      <p:sp>
        <p:nvSpPr>
          <p:cNvPr id="1906551868" name="Shape 16"/>
          <p:cNvSpPr/>
          <p:nvPr/>
        </p:nvSpPr>
        <p:spPr bwMode="auto">
          <a:xfrm>
            <a:off x="1737360" y="3840480"/>
            <a:ext cx="10515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43922305" name="Text 17"/>
          <p:cNvSpPr/>
          <p:nvPr/>
        </p:nvSpPr>
        <p:spPr bwMode="auto">
          <a:xfrm>
            <a:off x="173736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tkinter</a:t>
            </a:r>
            <a:endParaRPr lang="en-US" sz="1000"/>
          </a:p>
        </p:txBody>
      </p:sp>
      <p:sp>
        <p:nvSpPr>
          <p:cNvPr id="1002390149" name="Shape 18"/>
          <p:cNvSpPr/>
          <p:nvPr/>
        </p:nvSpPr>
        <p:spPr bwMode="auto">
          <a:xfrm>
            <a:off x="2926080" y="3840480"/>
            <a:ext cx="10515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27580386" name="Text 19"/>
          <p:cNvSpPr/>
          <p:nvPr/>
        </p:nvSpPr>
        <p:spPr bwMode="auto">
          <a:xfrm>
            <a:off x="292608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pytest</a:t>
            </a:r>
            <a:endParaRPr lang="en-US" sz="1000"/>
          </a:p>
        </p:txBody>
      </p:sp>
      <p:sp>
        <p:nvSpPr>
          <p:cNvPr id="1467176477" name="Shape 20"/>
          <p:cNvSpPr/>
          <p:nvPr/>
        </p:nvSpPr>
        <p:spPr bwMode="auto">
          <a:xfrm>
            <a:off x="4114800" y="3840480"/>
            <a:ext cx="10515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40280963" name="Text 21"/>
          <p:cNvSpPr/>
          <p:nvPr/>
        </p:nvSpPr>
        <p:spPr bwMode="auto">
          <a:xfrm>
            <a:off x="411480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OOP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799150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Architecture</a:t>
            </a:r>
            <a:endParaRPr lang="en-US" sz="3600"/>
          </a:p>
        </p:txBody>
      </p:sp>
      <p:sp>
        <p:nvSpPr>
          <p:cNvPr id="1427947011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05642636" name="Shape 2"/>
          <p:cNvSpPr/>
          <p:nvPr/>
        </p:nvSpPr>
        <p:spPr bwMode="auto">
          <a:xfrm>
            <a:off x="457200" y="1188720"/>
            <a:ext cx="393192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608626430" name="Shape 3"/>
          <p:cNvSpPr/>
          <p:nvPr/>
        </p:nvSpPr>
        <p:spPr bwMode="auto">
          <a:xfrm>
            <a:off x="457200" y="1188720"/>
            <a:ext cx="54864" cy="155448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46123276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1346196605" name="Text 4"/>
          <p:cNvSpPr/>
          <p:nvPr/>
        </p:nvSpPr>
        <p:spPr bwMode="auto">
          <a:xfrm>
            <a:off x="118872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piece.py</a:t>
            </a:r>
            <a:endParaRPr lang="en-US" sz="1800"/>
          </a:p>
        </p:txBody>
      </p:sp>
      <p:sp>
        <p:nvSpPr>
          <p:cNvPr id="851270547" name="Text 5"/>
          <p:cNvSpPr/>
          <p:nvPr/>
        </p:nvSpPr>
        <p:spPr bwMode="auto">
          <a:xfrm>
            <a:off x="73152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Base Piece class + 6 subclasses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(King, Queen, Rook, Bishop, Knight, Pawn)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Each implements piece_get_valid_moves()</a:t>
            </a:r>
            <a:endParaRPr lang="en-US" sz="1100"/>
          </a:p>
        </p:txBody>
      </p:sp>
      <p:sp>
        <p:nvSpPr>
          <p:cNvPr id="540732131" name="Shape 6"/>
          <p:cNvSpPr/>
          <p:nvPr/>
        </p:nvSpPr>
        <p:spPr bwMode="auto">
          <a:xfrm>
            <a:off x="4754880" y="1188720"/>
            <a:ext cx="393192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845090486" name="Shape 7"/>
          <p:cNvSpPr/>
          <p:nvPr/>
        </p:nvSpPr>
        <p:spPr bwMode="auto">
          <a:xfrm>
            <a:off x="4754880" y="1188720"/>
            <a:ext cx="54864" cy="155448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80155429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521135482" name="Text 8"/>
          <p:cNvSpPr/>
          <p:nvPr/>
        </p:nvSpPr>
        <p:spPr bwMode="auto">
          <a:xfrm>
            <a:off x="5486400" y="1280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board.py</a:t>
            </a:r>
            <a:endParaRPr lang="en-US" sz="1800"/>
          </a:p>
        </p:txBody>
      </p:sp>
      <p:sp>
        <p:nvSpPr>
          <p:cNvPr id="268890609" name="Text 9"/>
          <p:cNvSpPr/>
          <p:nvPr/>
        </p:nvSpPr>
        <p:spPr bwMode="auto">
          <a:xfrm>
            <a:off x="502920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Board &amp; Square classes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Move generation, legal move filtering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Check detection via ray-casting</a:t>
            </a:r>
            <a:endParaRPr lang="en-US" sz="1100"/>
          </a:p>
        </p:txBody>
      </p:sp>
      <p:sp>
        <p:nvSpPr>
          <p:cNvPr id="1685787982" name="Shape 10"/>
          <p:cNvSpPr/>
          <p:nvPr/>
        </p:nvSpPr>
        <p:spPr bwMode="auto">
          <a:xfrm>
            <a:off x="457200" y="3017519"/>
            <a:ext cx="393192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07416718" name="Shape 11"/>
          <p:cNvSpPr/>
          <p:nvPr/>
        </p:nvSpPr>
        <p:spPr bwMode="auto">
          <a:xfrm>
            <a:off x="457200" y="3017519"/>
            <a:ext cx="54864" cy="155448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204065743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5800" y="3154680"/>
            <a:ext cx="365760" cy="365760"/>
          </a:xfrm>
          <a:prstGeom prst="rect">
            <a:avLst/>
          </a:prstGeom>
        </p:spPr>
      </p:pic>
      <p:sp>
        <p:nvSpPr>
          <p:cNvPr id="1917287207" name="Text 12"/>
          <p:cNvSpPr/>
          <p:nvPr/>
        </p:nvSpPr>
        <p:spPr bwMode="auto">
          <a:xfrm>
            <a:off x="1188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gui.py</a:t>
            </a:r>
            <a:endParaRPr lang="en-US" sz="1800"/>
          </a:p>
        </p:txBody>
      </p:sp>
      <p:sp>
        <p:nvSpPr>
          <p:cNvPr id="1218652226" name="Text 13"/>
          <p:cNvSpPr/>
          <p:nvPr/>
        </p:nvSpPr>
        <p:spPr bwMode="auto">
          <a:xfrm>
            <a:off x="73152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ChessGameGUI class (tkinter Canvas)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Click-to-move interaction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Sprite rendering &amp; highlighting</a:t>
            </a:r>
            <a:endParaRPr lang="en-US" sz="1100"/>
          </a:p>
        </p:txBody>
      </p:sp>
      <p:sp>
        <p:nvSpPr>
          <p:cNvPr id="931101331" name="Shape 14"/>
          <p:cNvSpPr/>
          <p:nvPr/>
        </p:nvSpPr>
        <p:spPr bwMode="auto">
          <a:xfrm>
            <a:off x="4754880" y="3017519"/>
            <a:ext cx="3931920" cy="155448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444748193" name="Shape 15"/>
          <p:cNvSpPr/>
          <p:nvPr/>
        </p:nvSpPr>
        <p:spPr bwMode="auto">
          <a:xfrm>
            <a:off x="4754880" y="3017519"/>
            <a:ext cx="54864" cy="1554480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114259242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983480" y="3154680"/>
            <a:ext cx="365760" cy="365760"/>
          </a:xfrm>
          <a:prstGeom prst="rect">
            <a:avLst/>
          </a:prstGeom>
        </p:spPr>
      </p:pic>
      <p:sp>
        <p:nvSpPr>
          <p:cNvPr id="1484055782" name="Text 16"/>
          <p:cNvSpPr/>
          <p:nvPr/>
        </p:nvSpPr>
        <p:spPr bwMode="auto">
          <a:xfrm>
            <a:off x="54864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main_game.py</a:t>
            </a:r>
            <a:endParaRPr lang="en-US" sz="1800"/>
          </a:p>
        </p:txBody>
      </p:sp>
      <p:sp>
        <p:nvSpPr>
          <p:cNvPr id="36509656" name="Text 17"/>
          <p:cNvSpPr/>
          <p:nvPr/>
        </p:nvSpPr>
        <p:spPr bwMode="auto">
          <a:xfrm>
            <a:off x="5029200" y="3611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Entry point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Creates Board + GUI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Launches tkinter mainloop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5F0E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861921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Chess Engine</a:t>
            </a:r>
            <a:endParaRPr lang="en-US" sz="3600"/>
          </a:p>
        </p:txBody>
      </p:sp>
      <p:sp>
        <p:nvSpPr>
          <p:cNvPr id="1016959153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60386775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1201880222" name="Text 2"/>
          <p:cNvSpPr/>
          <p:nvPr/>
        </p:nvSpPr>
        <p:spPr bwMode="auto">
          <a:xfrm>
            <a:off x="54864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Two-Pass Move Generation</a:t>
            </a:r>
            <a:endParaRPr lang="en-US" sz="1600"/>
          </a:p>
        </p:txBody>
      </p:sp>
      <p:sp>
        <p:nvSpPr>
          <p:cNvPr id="407582987" name="Shape 3"/>
          <p:cNvSpPr/>
          <p:nvPr/>
        </p:nvSpPr>
        <p:spPr bwMode="auto">
          <a:xfrm>
            <a:off x="548640" y="1600200"/>
            <a:ext cx="393192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701224652" name="Text 4"/>
          <p:cNvSpPr/>
          <p:nvPr/>
        </p:nvSpPr>
        <p:spPr bwMode="auto">
          <a:xfrm>
            <a:off x="685800" y="1645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Pass 1</a:t>
            </a:r>
            <a:endParaRPr lang="en-US" sz="1000"/>
          </a:p>
        </p:txBody>
      </p:sp>
      <p:sp>
        <p:nvSpPr>
          <p:cNvPr id="517660881" name="Text 5"/>
          <p:cNvSpPr/>
          <p:nvPr/>
        </p:nvSpPr>
        <p:spPr bwMode="auto">
          <a:xfrm>
            <a:off x="68580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All non-King pieces compute valid moves.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Check flags set when a piece sees the opponent King.</a:t>
            </a:r>
            <a:endParaRPr lang="en-US" sz="1000"/>
          </a:p>
        </p:txBody>
      </p:sp>
      <p:sp>
        <p:nvSpPr>
          <p:cNvPr id="1508600497" name="Shape 6"/>
          <p:cNvSpPr/>
          <p:nvPr/>
        </p:nvSpPr>
        <p:spPr bwMode="auto">
          <a:xfrm>
            <a:off x="548640" y="2331720"/>
            <a:ext cx="3931920" cy="5943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393628952" name="Text 7"/>
          <p:cNvSpPr/>
          <p:nvPr/>
        </p:nvSpPr>
        <p:spPr bwMode="auto">
          <a:xfrm>
            <a:off x="685800" y="23774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Pass 2</a:t>
            </a:r>
            <a:endParaRPr lang="en-US" sz="1000"/>
          </a:p>
        </p:txBody>
      </p:sp>
      <p:sp>
        <p:nvSpPr>
          <p:cNvPr id="1419049959" name="Text 8"/>
          <p:cNvSpPr/>
          <p:nvPr/>
        </p:nvSpPr>
        <p:spPr bwMode="auto">
          <a:xfrm>
            <a:off x="6858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Kings compute moves using is_square_attacked_by().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Castling eligibility checked with full attack info.</a:t>
            </a:r>
            <a:endParaRPr lang="en-US" sz="1000"/>
          </a:p>
        </p:txBody>
      </p:sp>
      <p:sp>
        <p:nvSpPr>
          <p:cNvPr id="373375740" name="Text 9"/>
          <p:cNvSpPr/>
          <p:nvPr/>
        </p:nvSpPr>
        <p:spPr bwMode="auto">
          <a:xfrm>
            <a:off x="54864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Legal Move Filtering</a:t>
            </a:r>
            <a:endParaRPr lang="en-US" sz="1600"/>
          </a:p>
        </p:txBody>
      </p:sp>
      <p:sp>
        <p:nvSpPr>
          <p:cNvPr id="1393016724" name="Shape 10"/>
          <p:cNvSpPr/>
          <p:nvPr/>
        </p:nvSpPr>
        <p:spPr bwMode="auto">
          <a:xfrm>
            <a:off x="548640" y="3611880"/>
            <a:ext cx="3931920" cy="822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438001898" name="Text 11"/>
          <p:cNvSpPr/>
          <p:nvPr/>
        </p:nvSpPr>
        <p:spPr bwMode="auto">
          <a:xfrm>
            <a:off x="68580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For every candidate move: simulate it, check if own King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is still in check via is_king_in_check_raw(), then undo.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Only moves that don't leave the King exposed survive.</a:t>
            </a:r>
            <a:endParaRPr lang="en-US" sz="1000"/>
          </a:p>
        </p:txBody>
      </p:sp>
      <p:sp>
        <p:nvSpPr>
          <p:cNvPr id="453126545" name="Text 12"/>
          <p:cNvSpPr/>
          <p:nvPr/>
        </p:nvSpPr>
        <p:spPr bwMode="auto">
          <a:xfrm>
            <a:off x="50292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Special Rules Implemented</a:t>
            </a:r>
            <a:endParaRPr lang="en-US" sz="1600"/>
          </a:p>
        </p:txBody>
      </p:sp>
      <p:pic>
        <p:nvPicPr>
          <p:cNvPr id="122387601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0" y="1645920"/>
            <a:ext cx="274320" cy="274320"/>
          </a:xfrm>
          <a:prstGeom prst="rect">
            <a:avLst/>
          </a:prstGeom>
        </p:spPr>
      </p:pic>
      <p:sp>
        <p:nvSpPr>
          <p:cNvPr id="994108912" name="Text 13"/>
          <p:cNvSpPr/>
          <p:nvPr/>
        </p:nvSpPr>
        <p:spPr bwMode="auto">
          <a:xfrm>
            <a:off x="544068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Castling</a:t>
            </a:r>
            <a:endParaRPr lang="en-US" sz="1200"/>
          </a:p>
        </p:txBody>
      </p:sp>
      <p:sp>
        <p:nvSpPr>
          <p:cNvPr id="1307250025" name="Text 14"/>
          <p:cNvSpPr/>
          <p:nvPr/>
        </p:nvSpPr>
        <p:spPr bwMode="auto">
          <a:xfrm>
            <a:off x="690372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King/queenside, path &amp; attack validation</a:t>
            </a:r>
            <a:endParaRPr lang="en-US" sz="1000"/>
          </a:p>
        </p:txBody>
      </p:sp>
      <p:pic>
        <p:nvPicPr>
          <p:cNvPr id="148778621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29200" y="2148840"/>
            <a:ext cx="274320" cy="274320"/>
          </a:xfrm>
          <a:prstGeom prst="rect">
            <a:avLst/>
          </a:prstGeom>
        </p:spPr>
      </p:pic>
      <p:sp>
        <p:nvSpPr>
          <p:cNvPr id="232456141" name="Text 15"/>
          <p:cNvSpPr/>
          <p:nvPr/>
        </p:nvSpPr>
        <p:spPr bwMode="auto">
          <a:xfrm>
            <a:off x="544068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En Passant</a:t>
            </a:r>
            <a:endParaRPr lang="en-US" sz="1200"/>
          </a:p>
        </p:txBody>
      </p:sp>
      <p:sp>
        <p:nvSpPr>
          <p:cNvPr id="1884053377" name="Text 16"/>
          <p:cNvSpPr/>
          <p:nvPr/>
        </p:nvSpPr>
        <p:spPr bwMode="auto">
          <a:xfrm>
            <a:off x="690372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History-aware, immediate response only</a:t>
            </a:r>
            <a:endParaRPr lang="en-US" sz="1000"/>
          </a:p>
        </p:txBody>
      </p:sp>
      <p:pic>
        <p:nvPicPr>
          <p:cNvPr id="86033943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29200" y="2651760"/>
            <a:ext cx="274320" cy="274320"/>
          </a:xfrm>
          <a:prstGeom prst="rect">
            <a:avLst/>
          </a:prstGeom>
        </p:spPr>
      </p:pic>
      <p:sp>
        <p:nvSpPr>
          <p:cNvPr id="1889943886" name="Text 17"/>
          <p:cNvSpPr/>
          <p:nvPr/>
        </p:nvSpPr>
        <p:spPr bwMode="auto">
          <a:xfrm>
            <a:off x="5440680" y="2633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Pawn Promotion</a:t>
            </a:r>
            <a:endParaRPr lang="en-US" sz="1200"/>
          </a:p>
        </p:txBody>
      </p:sp>
      <p:sp>
        <p:nvSpPr>
          <p:cNvPr id="1237752569" name="Text 18"/>
          <p:cNvSpPr/>
          <p:nvPr/>
        </p:nvSpPr>
        <p:spPr bwMode="auto">
          <a:xfrm>
            <a:off x="690372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GUI dialog for Q/R/B/N selection</a:t>
            </a:r>
            <a:endParaRPr lang="en-US" sz="1000"/>
          </a:p>
        </p:txBody>
      </p:sp>
      <p:pic>
        <p:nvPicPr>
          <p:cNvPr id="695080189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029200" y="3154680"/>
            <a:ext cx="274320" cy="274320"/>
          </a:xfrm>
          <a:prstGeom prst="rect">
            <a:avLst/>
          </a:prstGeom>
        </p:spPr>
      </p:pic>
      <p:sp>
        <p:nvSpPr>
          <p:cNvPr id="1334414145" name="Text 19"/>
          <p:cNvSpPr/>
          <p:nvPr/>
        </p:nvSpPr>
        <p:spPr bwMode="auto">
          <a:xfrm>
            <a:off x="5440680" y="3136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Check Detection</a:t>
            </a:r>
            <a:endParaRPr lang="en-US" sz="1200"/>
          </a:p>
        </p:txBody>
      </p:sp>
      <p:sp>
        <p:nvSpPr>
          <p:cNvPr id="1086379240" name="Text 20"/>
          <p:cNvSpPr/>
          <p:nvPr/>
        </p:nvSpPr>
        <p:spPr bwMode="auto">
          <a:xfrm>
            <a:off x="6903720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Ray-casting from King position</a:t>
            </a:r>
            <a:endParaRPr lang="en-US" sz="1000"/>
          </a:p>
        </p:txBody>
      </p:sp>
      <p:pic>
        <p:nvPicPr>
          <p:cNvPr id="741384996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029200" y="3657600"/>
            <a:ext cx="274320" cy="274320"/>
          </a:xfrm>
          <a:prstGeom prst="rect">
            <a:avLst/>
          </a:prstGeom>
        </p:spPr>
      </p:pic>
      <p:sp>
        <p:nvSpPr>
          <p:cNvPr id="445626755" name="Text 21"/>
          <p:cNvSpPr/>
          <p:nvPr/>
        </p:nvSpPr>
        <p:spPr bwMode="auto">
          <a:xfrm>
            <a:off x="544068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Checkmate / Stalemate</a:t>
            </a:r>
            <a:endParaRPr lang="en-US" sz="1200"/>
          </a:p>
        </p:txBody>
      </p:sp>
      <p:sp>
        <p:nvSpPr>
          <p:cNvPr id="1235002691" name="Text 22"/>
          <p:cNvSpPr/>
          <p:nvPr/>
        </p:nvSpPr>
        <p:spPr bwMode="auto">
          <a:xfrm>
            <a:off x="6903720" y="3639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Exhaustive legal move enumeration</a:t>
            </a:r>
            <a:endParaRPr lang="en-US" sz="1000"/>
          </a:p>
        </p:txBody>
      </p:sp>
      <p:pic>
        <p:nvPicPr>
          <p:cNvPr id="717202418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029200" y="4160519"/>
            <a:ext cx="274320" cy="274320"/>
          </a:xfrm>
          <a:prstGeom prst="rect">
            <a:avLst/>
          </a:prstGeom>
        </p:spPr>
      </p:pic>
      <p:sp>
        <p:nvSpPr>
          <p:cNvPr id="1885021429" name="Text 23"/>
          <p:cNvSpPr/>
          <p:nvPr/>
        </p:nvSpPr>
        <p:spPr bwMode="auto">
          <a:xfrm>
            <a:off x="5440680" y="4142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Pin Awareness</a:t>
            </a:r>
            <a:endParaRPr lang="en-US" sz="1200"/>
          </a:p>
        </p:txBody>
      </p:sp>
      <p:sp>
        <p:nvSpPr>
          <p:cNvPr id="1079763378" name="Text 24"/>
          <p:cNvSpPr/>
          <p:nvPr/>
        </p:nvSpPr>
        <p:spPr bwMode="auto">
          <a:xfrm>
            <a:off x="690372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filter_legal_moves catches all pins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557800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Graphical Interface</a:t>
            </a:r>
            <a:endParaRPr lang="en-US" sz="3600"/>
          </a:p>
        </p:txBody>
      </p:sp>
      <p:sp>
        <p:nvSpPr>
          <p:cNvPr id="1642478498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63206109" name="Shape 2"/>
          <p:cNvSpPr/>
          <p:nvPr/>
        </p:nvSpPr>
        <p:spPr bwMode="auto">
          <a:xfrm>
            <a:off x="640080" y="128016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2134153090" name="Shape 3"/>
          <p:cNvSpPr/>
          <p:nvPr/>
        </p:nvSpPr>
        <p:spPr bwMode="auto">
          <a:xfrm>
            <a:off x="1143000" y="128016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135821811" name="Shape 4"/>
          <p:cNvSpPr/>
          <p:nvPr/>
        </p:nvSpPr>
        <p:spPr bwMode="auto">
          <a:xfrm>
            <a:off x="1645920" y="128016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275347829" name="Shape 5"/>
          <p:cNvSpPr/>
          <p:nvPr/>
        </p:nvSpPr>
        <p:spPr bwMode="auto">
          <a:xfrm>
            <a:off x="2148840" y="128016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929051782" name="Shape 6"/>
          <p:cNvSpPr/>
          <p:nvPr/>
        </p:nvSpPr>
        <p:spPr bwMode="auto">
          <a:xfrm>
            <a:off x="640080" y="178308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230138618" name="Shape 7"/>
          <p:cNvSpPr/>
          <p:nvPr/>
        </p:nvSpPr>
        <p:spPr bwMode="auto">
          <a:xfrm>
            <a:off x="1143000" y="178308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843801644" name="Shape 8"/>
          <p:cNvSpPr/>
          <p:nvPr/>
        </p:nvSpPr>
        <p:spPr bwMode="auto">
          <a:xfrm>
            <a:off x="1645920" y="178308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469484915" name="Shape 9"/>
          <p:cNvSpPr/>
          <p:nvPr/>
        </p:nvSpPr>
        <p:spPr bwMode="auto">
          <a:xfrm>
            <a:off x="2148840" y="178308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400512029" name="Shape 10"/>
          <p:cNvSpPr/>
          <p:nvPr/>
        </p:nvSpPr>
        <p:spPr bwMode="auto">
          <a:xfrm>
            <a:off x="640080" y="228600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89530878" name="Shape 11"/>
          <p:cNvSpPr/>
          <p:nvPr/>
        </p:nvSpPr>
        <p:spPr bwMode="auto">
          <a:xfrm>
            <a:off x="1143000" y="228600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368671409" name="Shape 12"/>
          <p:cNvSpPr/>
          <p:nvPr/>
        </p:nvSpPr>
        <p:spPr bwMode="auto">
          <a:xfrm>
            <a:off x="1645920" y="228600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290171" name="Shape 13"/>
          <p:cNvSpPr/>
          <p:nvPr/>
        </p:nvSpPr>
        <p:spPr bwMode="auto">
          <a:xfrm>
            <a:off x="2148840" y="228600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265711902" name="Shape 14"/>
          <p:cNvSpPr/>
          <p:nvPr/>
        </p:nvSpPr>
        <p:spPr bwMode="auto">
          <a:xfrm>
            <a:off x="640080" y="278892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179800741" name="Shape 15"/>
          <p:cNvSpPr/>
          <p:nvPr/>
        </p:nvSpPr>
        <p:spPr bwMode="auto">
          <a:xfrm>
            <a:off x="1143000" y="278892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1258553425" name="Shape 16"/>
          <p:cNvSpPr/>
          <p:nvPr/>
        </p:nvSpPr>
        <p:spPr bwMode="auto">
          <a:xfrm>
            <a:off x="1645920" y="2788920"/>
            <a:ext cx="502920" cy="502920"/>
          </a:xfrm>
          <a:prstGeom prst="rect">
            <a:avLst/>
          </a:prstGeom>
          <a:solidFill>
            <a:srgbClr val="B58863"/>
          </a:solidFill>
          <a:ln/>
        </p:spPr>
      </p:sp>
      <p:sp>
        <p:nvSpPr>
          <p:cNvPr id="486557130" name="Shape 17"/>
          <p:cNvSpPr/>
          <p:nvPr/>
        </p:nvSpPr>
        <p:spPr bwMode="auto">
          <a:xfrm>
            <a:off x="2148840" y="2788920"/>
            <a:ext cx="502920" cy="502920"/>
          </a:xfrm>
          <a:prstGeom prst="rect">
            <a:avLst/>
          </a:prstGeom>
          <a:solidFill>
            <a:srgbClr val="F0D9B5"/>
          </a:solidFill>
          <a:ln/>
        </p:spPr>
      </p:sp>
      <p:sp>
        <p:nvSpPr>
          <p:cNvPr id="1932862227" name="Shape 18"/>
          <p:cNvSpPr/>
          <p:nvPr/>
        </p:nvSpPr>
        <p:spPr bwMode="auto">
          <a:xfrm>
            <a:off x="1143000" y="2286000"/>
            <a:ext cx="502920" cy="502920"/>
          </a:xfrm>
          <a:prstGeom prst="rect">
            <a:avLst/>
          </a:prstGeom>
          <a:solidFill>
            <a:srgbClr val="F7EC59"/>
          </a:solidFill>
          <a:ln/>
        </p:spPr>
      </p:sp>
      <p:sp>
        <p:nvSpPr>
          <p:cNvPr id="1206372573" name="Shape 19"/>
          <p:cNvSpPr/>
          <p:nvPr/>
        </p:nvSpPr>
        <p:spPr bwMode="auto">
          <a:xfrm>
            <a:off x="1645920" y="1783080"/>
            <a:ext cx="502920" cy="502920"/>
          </a:xfrm>
          <a:prstGeom prst="rect">
            <a:avLst/>
          </a:prstGeom>
          <a:solidFill>
            <a:srgbClr val="AAD751"/>
          </a:solidFill>
          <a:ln/>
        </p:spPr>
      </p:sp>
      <p:sp>
        <p:nvSpPr>
          <p:cNvPr id="233170792" name="Shape 20"/>
          <p:cNvSpPr/>
          <p:nvPr/>
        </p:nvSpPr>
        <p:spPr bwMode="auto">
          <a:xfrm>
            <a:off x="2148840" y="1280160"/>
            <a:ext cx="502920" cy="50292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560092156" name="Shape 21"/>
          <p:cNvSpPr/>
          <p:nvPr/>
        </p:nvSpPr>
        <p:spPr bwMode="auto">
          <a:xfrm>
            <a:off x="640080" y="3520440"/>
            <a:ext cx="182880" cy="182880"/>
          </a:xfrm>
          <a:prstGeom prst="rect">
            <a:avLst/>
          </a:prstGeom>
          <a:solidFill>
            <a:srgbClr val="F7EC59"/>
          </a:solidFill>
          <a:ln/>
        </p:spPr>
      </p:sp>
      <p:sp>
        <p:nvSpPr>
          <p:cNvPr id="546496417" name="Text 22"/>
          <p:cNvSpPr/>
          <p:nvPr/>
        </p:nvSpPr>
        <p:spPr bwMode="auto">
          <a:xfrm>
            <a:off x="914400" y="35021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Selected Piece</a:t>
            </a:r>
            <a:endParaRPr lang="en-US" sz="1000"/>
          </a:p>
        </p:txBody>
      </p:sp>
      <p:sp>
        <p:nvSpPr>
          <p:cNvPr id="1111704213" name="Shape 23"/>
          <p:cNvSpPr/>
          <p:nvPr/>
        </p:nvSpPr>
        <p:spPr bwMode="auto">
          <a:xfrm>
            <a:off x="640080" y="3794760"/>
            <a:ext cx="182880" cy="182880"/>
          </a:xfrm>
          <a:prstGeom prst="rect">
            <a:avLst/>
          </a:prstGeom>
          <a:solidFill>
            <a:srgbClr val="AAD751"/>
          </a:solidFill>
          <a:ln/>
        </p:spPr>
      </p:sp>
      <p:sp>
        <p:nvSpPr>
          <p:cNvPr id="2076706308" name="Text 24"/>
          <p:cNvSpPr/>
          <p:nvPr/>
        </p:nvSpPr>
        <p:spPr bwMode="auto">
          <a:xfrm>
            <a:off x="914400" y="37764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Valid Move</a:t>
            </a:r>
            <a:endParaRPr lang="en-US" sz="1000"/>
          </a:p>
        </p:txBody>
      </p:sp>
      <p:sp>
        <p:nvSpPr>
          <p:cNvPr id="1648649145" name="Shape 25"/>
          <p:cNvSpPr/>
          <p:nvPr/>
        </p:nvSpPr>
        <p:spPr bwMode="auto">
          <a:xfrm>
            <a:off x="640080" y="4069080"/>
            <a:ext cx="182880" cy="182880"/>
          </a:xfrm>
          <a:prstGeom prst="rect">
            <a:avLst/>
          </a:prstGeom>
          <a:solidFill>
            <a:srgbClr val="E84040"/>
          </a:solidFill>
          <a:ln/>
        </p:spPr>
      </p:sp>
      <p:sp>
        <p:nvSpPr>
          <p:cNvPr id="815635868" name="Text 26"/>
          <p:cNvSpPr/>
          <p:nvPr/>
        </p:nvSpPr>
        <p:spPr bwMode="auto">
          <a:xfrm>
            <a:off x="914400" y="40507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King in Check</a:t>
            </a:r>
            <a:endParaRPr lang="en-US" sz="1000"/>
          </a:p>
        </p:txBody>
      </p:sp>
      <p:sp>
        <p:nvSpPr>
          <p:cNvPr id="1082405854" name="Shape 27"/>
          <p:cNvSpPr/>
          <p:nvPr/>
        </p:nvSpPr>
        <p:spPr bwMode="auto">
          <a:xfrm>
            <a:off x="640080" y="4343400"/>
            <a:ext cx="182880" cy="182880"/>
          </a:xfrm>
          <a:prstGeom prst="rect">
            <a:avLst/>
          </a:prstGeom>
          <a:solidFill>
            <a:srgbClr val="991A1A"/>
          </a:solidFill>
          <a:ln/>
        </p:spPr>
      </p:sp>
      <p:sp>
        <p:nvSpPr>
          <p:cNvPr id="1227972039" name="Text 28"/>
          <p:cNvSpPr/>
          <p:nvPr/>
        </p:nvSpPr>
        <p:spPr bwMode="auto">
          <a:xfrm>
            <a:off x="914400" y="43251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Checkmate</a:t>
            </a:r>
            <a:endParaRPr lang="en-US" sz="1000"/>
          </a:p>
        </p:txBody>
      </p:sp>
      <p:sp>
        <p:nvSpPr>
          <p:cNvPr id="980232178" name="Shape 29"/>
          <p:cNvSpPr/>
          <p:nvPr/>
        </p:nvSpPr>
        <p:spPr bwMode="auto">
          <a:xfrm>
            <a:off x="640080" y="4617720"/>
            <a:ext cx="182880" cy="182880"/>
          </a:xfrm>
          <a:prstGeom prst="rect">
            <a:avLst/>
          </a:prstGeom>
          <a:solidFill>
            <a:srgbClr val="5A7D9A"/>
          </a:solidFill>
          <a:ln/>
        </p:spPr>
      </p:sp>
      <p:sp>
        <p:nvSpPr>
          <p:cNvPr id="57612359" name="Text 30"/>
          <p:cNvSpPr/>
          <p:nvPr/>
        </p:nvSpPr>
        <p:spPr bwMode="auto">
          <a:xfrm>
            <a:off x="914400" y="45994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Draw</a:t>
            </a:r>
            <a:endParaRPr lang="en-US" sz="1000"/>
          </a:p>
        </p:txBody>
      </p:sp>
      <p:sp>
        <p:nvSpPr>
          <p:cNvPr id="1729848661" name="Shape 31"/>
          <p:cNvSpPr/>
          <p:nvPr/>
        </p:nvSpPr>
        <p:spPr bwMode="auto">
          <a:xfrm>
            <a:off x="3291840" y="1097280"/>
            <a:ext cx="5577840" cy="5486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784679046" name="Text 32"/>
          <p:cNvSpPr/>
          <p:nvPr/>
        </p:nvSpPr>
        <p:spPr bwMode="auto">
          <a:xfrm>
            <a:off x="3474720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Programmatic Board Drawing</a:t>
            </a:r>
            <a:endParaRPr lang="en-US" sz="1200"/>
          </a:p>
        </p:txBody>
      </p:sp>
      <p:sp>
        <p:nvSpPr>
          <p:cNvPr id="141010012" name="Text 33"/>
          <p:cNvSpPr/>
          <p:nvPr/>
        </p:nvSpPr>
        <p:spPr bwMode="auto">
          <a:xfrm>
            <a:off x="5486400" y="1115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Canvas rectangles with lichess color palette. Rank/file labels rendered via create_text() for perfect alignment.</a:t>
            </a:r>
            <a:endParaRPr lang="en-US" sz="1000"/>
          </a:p>
        </p:txBody>
      </p:sp>
      <p:sp>
        <p:nvSpPr>
          <p:cNvPr id="515327938" name="Shape 34"/>
          <p:cNvSpPr/>
          <p:nvPr/>
        </p:nvSpPr>
        <p:spPr bwMode="auto">
          <a:xfrm>
            <a:off x="3291840" y="1737360"/>
            <a:ext cx="5577840" cy="5486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2025873136" name="Text 35"/>
          <p:cNvSpPr/>
          <p:nvPr/>
        </p:nvSpPr>
        <p:spPr bwMode="auto">
          <a:xfrm>
            <a:off x="3474720" y="1755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Sprite Sheet Rendering</a:t>
            </a:r>
            <a:endParaRPr lang="en-US" sz="1200"/>
          </a:p>
        </p:txBody>
      </p:sp>
      <p:sp>
        <p:nvSpPr>
          <p:cNvPr id="1618108822" name="Text 36"/>
          <p:cNvSpPr/>
          <p:nvPr/>
        </p:nvSpPr>
        <p:spPr bwMode="auto">
          <a:xfrm>
            <a:off x="5486400" y="17556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GIF sprite sheet (480x160) sliced into 12 piece images at 80x80 pixels using PhotoImage subimage extraction.</a:t>
            </a:r>
            <a:endParaRPr lang="en-US" sz="1000"/>
          </a:p>
        </p:txBody>
      </p:sp>
      <p:sp>
        <p:nvSpPr>
          <p:cNvPr id="1717678962" name="Shape 37"/>
          <p:cNvSpPr/>
          <p:nvPr/>
        </p:nvSpPr>
        <p:spPr bwMode="auto">
          <a:xfrm>
            <a:off x="3291840" y="2377440"/>
            <a:ext cx="5577840" cy="5486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136135998" name="Text 38"/>
          <p:cNvSpPr/>
          <p:nvPr/>
        </p:nvSpPr>
        <p:spPr bwMode="auto">
          <a:xfrm>
            <a:off x="3474720" y="23957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Click-to-Move Interaction</a:t>
            </a:r>
            <a:endParaRPr lang="en-US" sz="1200"/>
          </a:p>
        </p:txBody>
      </p:sp>
      <p:sp>
        <p:nvSpPr>
          <p:cNvPr id="1441654138" name="Text 39"/>
          <p:cNvSpPr/>
          <p:nvPr/>
        </p:nvSpPr>
        <p:spPr bwMode="auto">
          <a:xfrm>
            <a:off x="5486400" y="2395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Two-click selection system: first click selects piece and shows legal moves, second click executes the move.</a:t>
            </a:r>
            <a:endParaRPr lang="en-US" sz="1000"/>
          </a:p>
        </p:txBody>
      </p:sp>
      <p:sp>
        <p:nvSpPr>
          <p:cNvPr id="723827340" name="Shape 40"/>
          <p:cNvSpPr/>
          <p:nvPr/>
        </p:nvSpPr>
        <p:spPr bwMode="auto">
          <a:xfrm>
            <a:off x="3291840" y="3017519"/>
            <a:ext cx="5577840" cy="5486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307774560" name="Text 41"/>
          <p:cNvSpPr/>
          <p:nvPr/>
        </p:nvSpPr>
        <p:spPr bwMode="auto">
          <a:xfrm>
            <a:off x="3474720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Turn Enforcement</a:t>
            </a:r>
            <a:endParaRPr lang="en-US" sz="1200"/>
          </a:p>
        </p:txBody>
      </p:sp>
      <p:sp>
        <p:nvSpPr>
          <p:cNvPr id="1882268492" name="Text 42"/>
          <p:cNvSpPr/>
          <p:nvPr/>
        </p:nvSpPr>
        <p:spPr bwMode="auto">
          <a:xfrm>
            <a:off x="5486400" y="3035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Only the current player's pieces are selectable. Turn alternates automatically after each valid move.</a:t>
            </a:r>
            <a:endParaRPr lang="en-US" sz="1000"/>
          </a:p>
        </p:txBody>
      </p:sp>
      <p:sp>
        <p:nvSpPr>
          <p:cNvPr id="129000483" name="Shape 43"/>
          <p:cNvSpPr/>
          <p:nvPr/>
        </p:nvSpPr>
        <p:spPr bwMode="auto">
          <a:xfrm>
            <a:off x="3291840" y="3657600"/>
            <a:ext cx="5577840" cy="5486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940236085" name="Text 44"/>
          <p:cNvSpPr/>
          <p:nvPr/>
        </p:nvSpPr>
        <p:spPr bwMode="auto">
          <a:xfrm>
            <a:off x="3474720" y="3675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Event-Driven Architecture</a:t>
            </a:r>
            <a:endParaRPr lang="en-US" sz="1200"/>
          </a:p>
        </p:txBody>
      </p:sp>
      <p:sp>
        <p:nvSpPr>
          <p:cNvPr id="265364532" name="Text 45"/>
          <p:cNvSpPr/>
          <p:nvPr/>
        </p:nvSpPr>
        <p:spPr bwMode="auto">
          <a:xfrm>
            <a:off x="5486400" y="3675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Replaced blocking while-loop with tkinter event handlers. Each click triggers state update and board refresh.</a:t>
            </a:r>
            <a:endParaRPr lang="en-US" sz="1000"/>
          </a:p>
        </p:txBody>
      </p:sp>
      <p:sp>
        <p:nvSpPr>
          <p:cNvPr id="1598039803" name="Shape 46"/>
          <p:cNvSpPr/>
          <p:nvPr/>
        </p:nvSpPr>
        <p:spPr bwMode="auto">
          <a:xfrm>
            <a:off x="3291840" y="4297680"/>
            <a:ext cx="5577840" cy="5486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2098190181" name="Text 47"/>
          <p:cNvSpPr/>
          <p:nvPr/>
        </p:nvSpPr>
        <p:spPr bwMode="auto">
          <a:xfrm>
            <a:off x="3474720" y="4315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Modal Promotion Dialog</a:t>
            </a:r>
            <a:endParaRPr lang="en-US" sz="1200"/>
          </a:p>
        </p:txBody>
      </p:sp>
      <p:sp>
        <p:nvSpPr>
          <p:cNvPr id="1478365638" name="Text 48"/>
          <p:cNvSpPr/>
          <p:nvPr/>
        </p:nvSpPr>
        <p:spPr bwMode="auto">
          <a:xfrm>
            <a:off x="5486400" y="4315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Toplevel popup with piece images as buttons. Uses wait_window() for synchronous selection.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5F0E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614180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Testing &amp; Validation</a:t>
            </a:r>
            <a:endParaRPr lang="en-US" sz="3600"/>
          </a:p>
        </p:txBody>
      </p:sp>
      <p:sp>
        <p:nvSpPr>
          <p:cNvPr id="1421687304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71825647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1424985247" name="Text 2"/>
          <p:cNvSpPr/>
          <p:nvPr/>
        </p:nvSpPr>
        <p:spPr bwMode="auto">
          <a:xfrm>
            <a:off x="548640" y="11887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7200" b="1">
                <a:solidFill>
                  <a:srgbClr val="E8A838"/>
                </a:solidFill>
                <a:latin typeface="Georgia"/>
                <a:ea typeface="Georgia"/>
                <a:cs typeface="Georgia"/>
              </a:rPr>
              <a:t>150</a:t>
            </a:r>
            <a:endParaRPr lang="en-US" sz="7200"/>
          </a:p>
        </p:txBody>
      </p:sp>
      <p:sp>
        <p:nvSpPr>
          <p:cNvPr id="906749457" name="Text 3"/>
          <p:cNvSpPr/>
          <p:nvPr/>
        </p:nvSpPr>
        <p:spPr bwMode="auto">
          <a:xfrm>
            <a:off x="5486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2C2C2C"/>
                </a:solidFill>
                <a:latin typeface="Calibri"/>
                <a:ea typeface="Calibri"/>
                <a:cs typeface="Calibri"/>
              </a:rPr>
              <a:t>test cases passing</a:t>
            </a:r>
            <a:endParaRPr lang="en-US" sz="1400"/>
          </a:p>
        </p:txBody>
      </p:sp>
      <p:graphicFrame>
        <p:nvGraphicFramePr>
          <p:cNvPr id="631865806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3200400" y="1097280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46135178" name="Text 4"/>
          <p:cNvSpPr/>
          <p:nvPr/>
        </p:nvSpPr>
        <p:spPr bwMode="auto">
          <a:xfrm>
            <a:off x="54864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150 pytest tests across 9 categories: openings, piece movement, check detection, checkmate patterns, stalemate, castling, en passant, pins, and tactical patterns. Full pytest integration with fixtures, markers, and selective test execution.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76004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Key Design Decisions</a:t>
            </a:r>
            <a:endParaRPr lang="en-US" sz="3600"/>
          </a:p>
        </p:txBody>
      </p:sp>
      <p:sp>
        <p:nvSpPr>
          <p:cNvPr id="728826001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661003104" name="Shape 2"/>
          <p:cNvSpPr/>
          <p:nvPr/>
        </p:nvSpPr>
        <p:spPr bwMode="auto">
          <a:xfrm>
            <a:off x="457200" y="1143000"/>
            <a:ext cx="8229600" cy="658368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2131203251" name="Shape 3"/>
          <p:cNvSpPr/>
          <p:nvPr/>
        </p:nvSpPr>
        <p:spPr bwMode="auto">
          <a:xfrm>
            <a:off x="457200" y="1143000"/>
            <a:ext cx="54864" cy="6583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01481043" name="Text 4"/>
          <p:cNvSpPr/>
          <p:nvPr/>
        </p:nvSpPr>
        <p:spPr bwMode="auto">
          <a:xfrm>
            <a:off x="73152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Mathematical State Over Tracked State</a:t>
            </a:r>
            <a:endParaRPr lang="en-US" sz="1400"/>
          </a:p>
        </p:txBody>
      </p:sp>
      <p:sp>
        <p:nvSpPr>
          <p:cNvPr id="1300069539" name="Text 5"/>
          <p:cNvSpPr/>
          <p:nvPr/>
        </p:nvSpPr>
        <p:spPr bwMode="auto">
          <a:xfrm>
            <a:off x="73152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Square colors computed via (rank + file) % 2 instead of storing highlight state. Eliminates an entire class of state management bugs.</a:t>
            </a:r>
            <a:endParaRPr lang="en-US" sz="1100"/>
          </a:p>
        </p:txBody>
      </p:sp>
      <p:sp>
        <p:nvSpPr>
          <p:cNvPr id="1762775423" name="Shape 6"/>
          <p:cNvSpPr/>
          <p:nvPr/>
        </p:nvSpPr>
        <p:spPr bwMode="auto">
          <a:xfrm>
            <a:off x="457200" y="1920240"/>
            <a:ext cx="8229600" cy="658368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2125683440" name="Shape 7"/>
          <p:cNvSpPr/>
          <p:nvPr/>
        </p:nvSpPr>
        <p:spPr bwMode="auto">
          <a:xfrm>
            <a:off x="457200" y="1920240"/>
            <a:ext cx="54864" cy="6583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90767624" name="Text 8"/>
          <p:cNvSpPr/>
          <p:nvPr/>
        </p:nvSpPr>
        <p:spPr bwMode="auto">
          <a:xfrm>
            <a:off x="7315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Two-Pass Move Generation</a:t>
            </a:r>
            <a:endParaRPr lang="en-US" sz="1400"/>
          </a:p>
        </p:txBody>
      </p:sp>
      <p:sp>
        <p:nvSpPr>
          <p:cNvPr id="1467127016" name="Text 9"/>
          <p:cNvSpPr/>
          <p:nvPr/>
        </p:nvSpPr>
        <p:spPr bwMode="auto">
          <a:xfrm>
            <a:off x="731520" y="2240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Non-King pieces computed first, then Kings. Ensures check flags are fully set before castling eligibility is evaluated.</a:t>
            </a:r>
            <a:endParaRPr lang="en-US" sz="1100"/>
          </a:p>
        </p:txBody>
      </p:sp>
      <p:sp>
        <p:nvSpPr>
          <p:cNvPr id="761948710" name="Shape 10"/>
          <p:cNvSpPr/>
          <p:nvPr/>
        </p:nvSpPr>
        <p:spPr bwMode="auto">
          <a:xfrm>
            <a:off x="457200" y="2697480"/>
            <a:ext cx="8229600" cy="658368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450413163" name="Shape 11"/>
          <p:cNvSpPr/>
          <p:nvPr/>
        </p:nvSpPr>
        <p:spPr bwMode="auto">
          <a:xfrm>
            <a:off x="457200" y="2697480"/>
            <a:ext cx="54864" cy="6583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21094781" name="Text 12"/>
          <p:cNvSpPr/>
          <p:nvPr/>
        </p:nvSpPr>
        <p:spPr bwMode="auto">
          <a:xfrm>
            <a:off x="731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Canvas.delete('all') + Full Redraw</a:t>
            </a:r>
            <a:endParaRPr lang="en-US" sz="1400"/>
          </a:p>
        </p:txBody>
      </p:sp>
      <p:sp>
        <p:nvSpPr>
          <p:cNvPr id="1852181205" name="Text 13"/>
          <p:cNvSpPr/>
          <p:nvPr/>
        </p:nvSpPr>
        <p:spPr bwMode="auto">
          <a:xfrm>
            <a:off x="731520" y="3017519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Each move wipes the canvas and redraws everything. Prevents ghost images from castling, en passant, and captures.</a:t>
            </a:r>
            <a:endParaRPr lang="en-US" sz="1100"/>
          </a:p>
        </p:txBody>
      </p:sp>
      <p:sp>
        <p:nvSpPr>
          <p:cNvPr id="747220438" name="Shape 14"/>
          <p:cNvSpPr/>
          <p:nvPr/>
        </p:nvSpPr>
        <p:spPr bwMode="auto">
          <a:xfrm>
            <a:off x="457200" y="3474720"/>
            <a:ext cx="8229600" cy="658368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2039931618" name="Shape 15"/>
          <p:cNvSpPr/>
          <p:nvPr/>
        </p:nvSpPr>
        <p:spPr bwMode="auto">
          <a:xfrm>
            <a:off x="457200" y="3474720"/>
            <a:ext cx="54864" cy="6583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68424021" name="Text 16"/>
          <p:cNvSpPr/>
          <p:nvPr/>
        </p:nvSpPr>
        <p:spPr bwMode="auto">
          <a:xfrm>
            <a:off x="7315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Separate Highlight Functions</a:t>
            </a:r>
            <a:endParaRPr lang="en-US" sz="1400"/>
          </a:p>
        </p:txBody>
      </p:sp>
      <p:sp>
        <p:nvSpPr>
          <p:cNvPr id="827793997" name="Text 17"/>
          <p:cNvSpPr/>
          <p:nvPr/>
        </p:nvSpPr>
        <p:spPr bwMode="auto">
          <a:xfrm>
            <a:off x="73152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Selected-square highlighting and valid-move highlighting are independent systems. Avoids tangling two different visual concerns.</a:t>
            </a:r>
            <a:endParaRPr lang="en-US" sz="1100"/>
          </a:p>
        </p:txBody>
      </p:sp>
      <p:sp>
        <p:nvSpPr>
          <p:cNvPr id="1712263548" name="Shape 18"/>
          <p:cNvSpPr/>
          <p:nvPr/>
        </p:nvSpPr>
        <p:spPr bwMode="auto">
          <a:xfrm>
            <a:off x="457200" y="4251960"/>
            <a:ext cx="8229600" cy="658368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093679193" name="Shape 19"/>
          <p:cNvSpPr/>
          <p:nvPr/>
        </p:nvSpPr>
        <p:spPr bwMode="auto">
          <a:xfrm>
            <a:off x="457200" y="4251960"/>
            <a:ext cx="54864" cy="6583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918579069" name="Text 20"/>
          <p:cNvSpPr/>
          <p:nvPr/>
        </p:nvSpPr>
        <p:spPr bwMode="auto">
          <a:xfrm>
            <a:off x="7315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Event-Driven Over Blocking Loop</a:t>
            </a:r>
            <a:endParaRPr lang="en-US" sz="1400"/>
          </a:p>
        </p:txBody>
      </p:sp>
      <p:sp>
        <p:nvSpPr>
          <p:cNvPr id="1494065658" name="Text 21"/>
          <p:cNvSpPr/>
          <p:nvPr/>
        </p:nvSpPr>
        <p:spPr bwMode="auto"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Replaced main_game.py's while-loop with GUI click handler as the game loop. Each click = one atomic game action.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5F0E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37038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Skills Demonstrated</a:t>
            </a:r>
            <a:endParaRPr lang="en-US" sz="3600"/>
          </a:p>
        </p:txBody>
      </p:sp>
      <p:sp>
        <p:nvSpPr>
          <p:cNvPr id="78784487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4133960" name="Shape 2"/>
          <p:cNvSpPr/>
          <p:nvPr/>
        </p:nvSpPr>
        <p:spPr bwMode="auto">
          <a:xfrm>
            <a:off x="457200" y="1143000"/>
            <a:ext cx="8229600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148440072" name="Text 3"/>
          <p:cNvSpPr/>
          <p:nvPr/>
        </p:nvSpPr>
        <p:spPr bwMode="auto">
          <a:xfrm>
            <a:off x="64008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Object-Oriented Design</a:t>
            </a:r>
            <a:endParaRPr lang="en-US" sz="1400"/>
          </a:p>
        </p:txBody>
      </p:sp>
      <p:sp>
        <p:nvSpPr>
          <p:cNvPr id="871873930" name="Text 4"/>
          <p:cNvSpPr/>
          <p:nvPr/>
        </p:nvSpPr>
        <p:spPr bwMode="auto">
          <a:xfrm>
            <a:off x="3017519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Inheritance hierarchy (Piece base class, 6 subclasses), Encapsulation, Polymorphism via piece_get_valid_moves()</a:t>
            </a:r>
            <a:endParaRPr lang="en-US" sz="1100"/>
          </a:p>
        </p:txBody>
      </p:sp>
      <p:sp>
        <p:nvSpPr>
          <p:cNvPr id="1226667970" name="Shape 5"/>
          <p:cNvSpPr/>
          <p:nvPr/>
        </p:nvSpPr>
        <p:spPr bwMode="auto">
          <a:xfrm>
            <a:off x="457200" y="1892808"/>
            <a:ext cx="8229600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315429243" name="Text 6"/>
          <p:cNvSpPr/>
          <p:nvPr/>
        </p:nvSpPr>
        <p:spPr bwMode="auto">
          <a:xfrm>
            <a:off x="640080" y="19385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Algorithmic Thinking</a:t>
            </a:r>
            <a:endParaRPr lang="en-US" sz="1400"/>
          </a:p>
        </p:txBody>
      </p:sp>
      <p:sp>
        <p:nvSpPr>
          <p:cNvPr id="1469482566" name="Text 7"/>
          <p:cNvSpPr/>
          <p:nvPr/>
        </p:nvSpPr>
        <p:spPr bwMode="auto">
          <a:xfrm>
            <a:off x="3017519" y="1938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Ray-casting for sliding pieces, Simulate-and-undo for legal move filtering, L-shape offsets for knight movement</a:t>
            </a:r>
            <a:endParaRPr lang="en-US" sz="1100"/>
          </a:p>
        </p:txBody>
      </p:sp>
      <p:sp>
        <p:nvSpPr>
          <p:cNvPr id="1664153949" name="Shape 8"/>
          <p:cNvSpPr/>
          <p:nvPr/>
        </p:nvSpPr>
        <p:spPr bwMode="auto">
          <a:xfrm>
            <a:off x="457200" y="2642616"/>
            <a:ext cx="8229600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753037545" name="Text 9"/>
          <p:cNvSpPr/>
          <p:nvPr/>
        </p:nvSpPr>
        <p:spPr bwMode="auto">
          <a:xfrm>
            <a:off x="640080" y="26883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GUI Development</a:t>
            </a:r>
            <a:endParaRPr lang="en-US" sz="1400"/>
          </a:p>
        </p:txBody>
      </p:sp>
      <p:sp>
        <p:nvSpPr>
          <p:cNvPr id="2066608865" name="Text 10"/>
          <p:cNvSpPr/>
          <p:nvPr/>
        </p:nvSpPr>
        <p:spPr bwMode="auto">
          <a:xfrm>
            <a:off x="3017519" y="268833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tkinter Canvas drawing, Sprite sheet extraction, Event binding, Modal dialogs, Coordinate system mapping</a:t>
            </a:r>
            <a:endParaRPr lang="en-US" sz="1100"/>
          </a:p>
        </p:txBody>
      </p:sp>
      <p:sp>
        <p:nvSpPr>
          <p:cNvPr id="237540919" name="Shape 11"/>
          <p:cNvSpPr/>
          <p:nvPr/>
        </p:nvSpPr>
        <p:spPr bwMode="auto">
          <a:xfrm>
            <a:off x="457200" y="3392424"/>
            <a:ext cx="8229600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881964844" name="Text 12"/>
          <p:cNvSpPr/>
          <p:nvPr/>
        </p:nvSpPr>
        <p:spPr bwMode="auto">
          <a:xfrm>
            <a:off x="640080" y="34381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Software Architecture</a:t>
            </a:r>
            <a:endParaRPr lang="en-US" sz="1400"/>
          </a:p>
        </p:txBody>
      </p:sp>
      <p:sp>
        <p:nvSpPr>
          <p:cNvPr id="919923325" name="Text 13"/>
          <p:cNvSpPr/>
          <p:nvPr/>
        </p:nvSpPr>
        <p:spPr bwMode="auto">
          <a:xfrm>
            <a:off x="3017519" y="34381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Clean separation of engine and GUI, Event-driven design replacing procedural loops, State management across components</a:t>
            </a:r>
            <a:endParaRPr lang="en-US" sz="1100"/>
          </a:p>
        </p:txBody>
      </p:sp>
      <p:sp>
        <p:nvSpPr>
          <p:cNvPr id="76662050" name="Shape 14"/>
          <p:cNvSpPr/>
          <p:nvPr/>
        </p:nvSpPr>
        <p:spPr bwMode="auto">
          <a:xfrm>
            <a:off x="457200" y="4142232"/>
            <a:ext cx="8229600" cy="64008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989699467" name="Text 15"/>
          <p:cNvSpPr/>
          <p:nvPr/>
        </p:nvSpPr>
        <p:spPr bwMode="auto">
          <a:xfrm>
            <a:off x="64008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Testing &amp; QA</a:t>
            </a:r>
            <a:endParaRPr lang="en-US" sz="1400"/>
          </a:p>
        </p:txBody>
      </p:sp>
      <p:sp>
        <p:nvSpPr>
          <p:cNvPr id="598643164" name="Text 16"/>
          <p:cNvSpPr/>
          <p:nvPr/>
        </p:nvSpPr>
        <p:spPr bwMode="auto">
          <a:xfrm>
            <a:off x="3017519" y="41879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E8E4DC"/>
                </a:solidFill>
                <a:latin typeface="Calibri"/>
                <a:ea typeface="Calibri"/>
                <a:cs typeface="Calibri"/>
              </a:rPr>
              <a:t>150 pytest tests with fixtures, markers, and selective execution. Edge case identification, regression testing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636443" name="Text 0"/>
          <p:cNvSpPr/>
          <p:nvPr/>
        </p:nvSpPr>
        <p:spPr bwMode="auto"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Future Roadmap</a:t>
            </a:r>
            <a:endParaRPr lang="en-US" sz="3600"/>
          </a:p>
        </p:txBody>
      </p:sp>
      <p:sp>
        <p:nvSpPr>
          <p:cNvPr id="1641087768" name="Shape 1"/>
          <p:cNvSpPr/>
          <p:nvPr/>
        </p:nvSpPr>
        <p:spPr bwMode="auto">
          <a:xfrm>
            <a:off x="548640" y="86868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</p:sp>
      <p:pic>
        <p:nvPicPr>
          <p:cNvPr id="96577414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0" y="320040"/>
            <a:ext cx="502920" cy="502920"/>
          </a:xfrm>
          <a:prstGeom prst="rect">
            <a:avLst/>
          </a:prstGeom>
        </p:spPr>
      </p:pic>
      <p:sp>
        <p:nvSpPr>
          <p:cNvPr id="1210725820" name="Shape 2"/>
          <p:cNvSpPr/>
          <p:nvPr/>
        </p:nvSpPr>
        <p:spPr bwMode="auto">
          <a:xfrm>
            <a:off x="457200" y="1188720"/>
            <a:ext cx="8229600" cy="7772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680912106" name="Shape 3"/>
          <p:cNvSpPr/>
          <p:nvPr/>
        </p:nvSpPr>
        <p:spPr bwMode="auto">
          <a:xfrm>
            <a:off x="457200" y="1188720"/>
            <a:ext cx="914400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725164637" name="Text 4"/>
          <p:cNvSpPr/>
          <p:nvPr/>
        </p:nvSpPr>
        <p:spPr bwMode="auto">
          <a:xfrm>
            <a:off x="457200" y="1188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Phase 1</a:t>
            </a:r>
            <a:endParaRPr lang="en-US" sz="1200"/>
          </a:p>
        </p:txBody>
      </p:sp>
      <p:sp>
        <p:nvSpPr>
          <p:cNvPr id="2048396716" name="Text 5"/>
          <p:cNvSpPr/>
          <p:nvPr/>
        </p:nvSpPr>
        <p:spPr bwMode="auto">
          <a:xfrm>
            <a:off x="155448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Opponent</a:t>
            </a:r>
            <a:endParaRPr lang="en-US" sz="1600"/>
          </a:p>
        </p:txBody>
      </p:sp>
      <p:sp>
        <p:nvSpPr>
          <p:cNvPr id="1166111371" name="Text 6"/>
          <p:cNvSpPr/>
          <p:nvPr/>
        </p:nvSpPr>
        <p:spPr bwMode="auto">
          <a:xfrm>
            <a:off x="15544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Minimax algorithm with alpha-beta pruning. Material + positional evaluation. Configurable search depth.</a:t>
            </a:r>
            <a:endParaRPr lang="en-US" sz="1100"/>
          </a:p>
        </p:txBody>
      </p:sp>
      <p:sp>
        <p:nvSpPr>
          <p:cNvPr id="782233363" name="Shape 7"/>
          <p:cNvSpPr/>
          <p:nvPr/>
        </p:nvSpPr>
        <p:spPr bwMode="auto">
          <a:xfrm>
            <a:off x="457200" y="2103120"/>
            <a:ext cx="8229600" cy="7772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449482798" name="Shape 8"/>
          <p:cNvSpPr/>
          <p:nvPr/>
        </p:nvSpPr>
        <p:spPr bwMode="auto">
          <a:xfrm>
            <a:off x="457200" y="2103120"/>
            <a:ext cx="914400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30544350" name="Text 9"/>
          <p:cNvSpPr/>
          <p:nvPr/>
        </p:nvSpPr>
        <p:spPr bwMode="auto">
          <a:xfrm>
            <a:off x="457200" y="2103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Phase 2</a:t>
            </a:r>
            <a:endParaRPr lang="en-US" sz="1200"/>
          </a:p>
        </p:txBody>
      </p:sp>
      <p:sp>
        <p:nvSpPr>
          <p:cNvPr id="774502808" name="Text 10"/>
          <p:cNvSpPr/>
          <p:nvPr/>
        </p:nvSpPr>
        <p:spPr bwMode="auto">
          <a:xfrm>
            <a:off x="155448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Drag &amp; Drop</a:t>
            </a:r>
            <a:endParaRPr lang="en-US" sz="1600"/>
          </a:p>
        </p:txBody>
      </p:sp>
      <p:sp>
        <p:nvSpPr>
          <p:cNvPr id="1020087824" name="Text 11"/>
          <p:cNvSpPr/>
          <p:nvPr/>
        </p:nvSpPr>
        <p:spPr bwMode="auto">
          <a:xfrm>
            <a:off x="155448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B1-Motion event handling for piece dragging. Snap-back animation on invalid moves.</a:t>
            </a:r>
            <a:endParaRPr lang="en-US" sz="1100"/>
          </a:p>
        </p:txBody>
      </p:sp>
      <p:sp>
        <p:nvSpPr>
          <p:cNvPr id="590439709" name="Shape 12"/>
          <p:cNvSpPr/>
          <p:nvPr/>
        </p:nvSpPr>
        <p:spPr bwMode="auto">
          <a:xfrm>
            <a:off x="457200" y="3017519"/>
            <a:ext cx="8229600" cy="7772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1523360579" name="Shape 13"/>
          <p:cNvSpPr/>
          <p:nvPr/>
        </p:nvSpPr>
        <p:spPr bwMode="auto">
          <a:xfrm>
            <a:off x="457200" y="3017519"/>
            <a:ext cx="914400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803969282" name="Text 14"/>
          <p:cNvSpPr/>
          <p:nvPr/>
        </p:nvSpPr>
        <p:spPr bwMode="auto">
          <a:xfrm>
            <a:off x="457200" y="3017519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Phase 3</a:t>
            </a:r>
            <a:endParaRPr lang="en-US" sz="1200"/>
          </a:p>
        </p:txBody>
      </p:sp>
      <p:sp>
        <p:nvSpPr>
          <p:cNvPr id="922808507" name="Text 15"/>
          <p:cNvSpPr/>
          <p:nvPr/>
        </p:nvSpPr>
        <p:spPr bwMode="auto">
          <a:xfrm>
            <a:off x="155448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Board Flipping</a:t>
            </a:r>
            <a:endParaRPr lang="en-US" sz="1600"/>
          </a:p>
        </p:txBody>
      </p:sp>
      <p:sp>
        <p:nvSpPr>
          <p:cNvPr id="647680365" name="Text 16"/>
          <p:cNvSpPr/>
          <p:nvPr/>
        </p:nvSpPr>
        <p:spPr bwMode="auto">
          <a:xfrm>
            <a:off x="155448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Play as black with reversed board orientation. Dynamic coordinate remapping.</a:t>
            </a:r>
            <a:endParaRPr lang="en-US" sz="1100"/>
          </a:p>
        </p:txBody>
      </p:sp>
      <p:sp>
        <p:nvSpPr>
          <p:cNvPr id="252271616" name="Shape 17"/>
          <p:cNvSpPr/>
          <p:nvPr/>
        </p:nvSpPr>
        <p:spPr bwMode="auto">
          <a:xfrm>
            <a:off x="457200" y="3931920"/>
            <a:ext cx="8229600" cy="777240"/>
          </a:xfrm>
          <a:prstGeom prst="rect">
            <a:avLst/>
          </a:prstGeom>
          <a:solidFill>
            <a:srgbClr val="16213E"/>
          </a:solidFill>
          <a:ln/>
          <a:effectLst>
            <a:outerShdw blurRad="76200" dist="25400" dir="8100000" sx="100000" sy="100000" kx="0" ky="0" algn="bl" rotWithShape="0">
              <a:srgbClr val="000000">
                <a:alpha val="20000"/>
              </a:srgbClr>
            </a:outerShdw>
          </a:effectLst>
        </p:spPr>
      </p:sp>
      <p:sp>
        <p:nvSpPr>
          <p:cNvPr id="847502478" name="Shape 18"/>
          <p:cNvSpPr/>
          <p:nvPr/>
        </p:nvSpPr>
        <p:spPr bwMode="auto">
          <a:xfrm>
            <a:off x="457200" y="3931920"/>
            <a:ext cx="914400" cy="7772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48594890" name="Text 19"/>
          <p:cNvSpPr/>
          <p:nvPr/>
        </p:nvSpPr>
        <p:spPr bwMode="auto">
          <a:xfrm>
            <a:off x="457200" y="3931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Phase 4</a:t>
            </a:r>
            <a:endParaRPr lang="en-US" sz="1200"/>
          </a:p>
        </p:txBody>
      </p:sp>
      <p:sp>
        <p:nvSpPr>
          <p:cNvPr id="1333034052" name="Text 20"/>
          <p:cNvSpPr/>
          <p:nvPr/>
        </p:nvSpPr>
        <p:spPr bwMode="auto">
          <a:xfrm>
            <a:off x="155448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Custom Piece Sprites</a:t>
            </a:r>
            <a:endParaRPr lang="en-US" sz="1600"/>
          </a:p>
        </p:txBody>
      </p:sp>
      <p:sp>
        <p:nvSpPr>
          <p:cNvPr id="693794361" name="Text 21"/>
          <p:cNvSpPr/>
          <p:nvPr/>
        </p:nvSpPr>
        <p:spPr bwMode="auto">
          <a:xfrm>
            <a:off x="15544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AI-generated 80x80 pixel art chess pieces replacing the current sprite sheet. Unique visual identity.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1A1A2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82092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1483882045" name="Text 0"/>
          <p:cNvSpPr/>
          <p:nvPr/>
        </p:nvSpPr>
        <p:spPr bwMode="auto"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Thank You</a:t>
            </a:r>
            <a:endParaRPr lang="en-US" sz="4000"/>
          </a:p>
        </p:txBody>
      </p:sp>
      <p:sp>
        <p:nvSpPr>
          <p:cNvPr id="1602270495" name="Shape 1"/>
          <p:cNvSpPr/>
          <p:nvPr/>
        </p:nvSpPr>
        <p:spPr bwMode="auto">
          <a:xfrm>
            <a:off x="3200400" y="3017519"/>
            <a:ext cx="2743200" cy="2743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55365508" name="Text 2"/>
          <p:cNvSpPr/>
          <p:nvPr/>
        </p:nvSpPr>
        <p:spPr bwMode="auto"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Georgios Giosmas</a:t>
            </a:r>
            <a:endParaRPr lang="en-US" sz="1800"/>
          </a:p>
        </p:txBody>
      </p:sp>
      <p:sp>
        <p:nvSpPr>
          <p:cNvPr id="1479457018" name="Text 3"/>
          <p:cNvSpPr/>
          <p:nvPr/>
        </p:nvSpPr>
        <p:spPr bwMode="auto"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github.com/GeorgiosGiosmas</a:t>
            </a:r>
            <a:endParaRPr lang="en-US" sz="1400"/>
          </a:p>
        </p:txBody>
      </p:sp>
      <p:sp>
        <p:nvSpPr>
          <p:cNvPr id="494302257" name="Text 4"/>
          <p:cNvSpPr/>
          <p:nvPr/>
        </p:nvSpPr>
        <p:spPr bwMode="auto"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B8B5AD"/>
                </a:solidFill>
                <a:latin typeface="Calibri"/>
                <a:ea typeface="Calibri"/>
                <a:cs typeface="Calibri"/>
              </a:rPr>
              <a:t>Electrical &amp; Computer Engineering Graduate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?><Relationships xmlns="http://schemas.openxmlformats.org/package/2006/relationships"/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Chess Application</dc:title>
  <dc:subject>PptxGenJS Presentation</dc:subject>
  <dc:creator>Georgios Giosmas</dc:creator>
  <cp:lastModifiedBy/>
  <cp:revision>2</cp:revision>
  <dcterms:created xsi:type="dcterms:W3CDTF">2026-03-10T10:24:33Z</dcterms:created>
  <dcterms:modified xsi:type="dcterms:W3CDTF">2026-03-12T09:16:57Z</dcterms:modified>
</cp:coreProperties>
</file>